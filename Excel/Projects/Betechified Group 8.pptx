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48" r:id="rId1"/>
    <p:sldMasterId id="2147483649" r:id="rId2"/>
  </p:sldMasterIdLst>
  <p:notesMasterIdLst>
    <p:notesMasterId r:id="rId3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y="10287000" cx="18288000"/>
  <p:notesSz cx="6858000" cy="9144000"/>
  <p:embeddedFontLst>
    <p:embeddedFont>
      <p:font typeface="Bricolage Grotesque" panose="020B0605040402000204" charset="1"/>
      <p:regular r:id="rId22"/>
    </p:embeddedFont>
    <p:embeddedFont>
      <p:font typeface="Bricolage Grotesque Bold" panose="020B0605040402000204" charset="1"/>
      <p:regular r:id="rId23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tableStyles" Target="tableStyle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2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22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2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2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2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8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8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5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0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0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 fontScale="91667" lnSpcReduction="10000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0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 fontScale="91667" lnSpcReduction="10000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1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7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5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1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1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5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86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8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9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640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641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42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643" name="Freeform 6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644" name="Freeform 7"/>
          <p:cNvSpPr/>
          <p:nvPr/>
        </p:nvSpPr>
        <p:spPr>
          <a:xfrm rot="0" flipH="0" flipV="0">
            <a:off x="11791287" y="2638504"/>
            <a:ext cx="10936025" cy="10299747"/>
          </a:xfrm>
          <a:custGeom>
            <a:avLst/>
            <a:ahLst/>
            <a:rect l="l" t="t" r="r" b="b"/>
            <a:pathLst>
              <a:path w="10936025" h="10299747">
                <a:moveTo>
                  <a:pt x="0" y="0"/>
                </a:moveTo>
                <a:lnTo>
                  <a:pt x="10936026" y="0"/>
                </a:lnTo>
                <a:lnTo>
                  <a:pt x="10936026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id="1048645" name="Freeform 8"/>
          <p:cNvSpPr/>
          <p:nvPr/>
        </p:nvSpPr>
        <p:spPr>
          <a:xfrm rot="0" flipH="0" flipV="0">
            <a:off x="8814721" y="570267"/>
            <a:ext cx="9798490" cy="8229600"/>
          </a:xfrm>
          <a:custGeom>
            <a:avLst/>
            <a:ahLst/>
            <a:rect l="l" t="t" r="r" b="b"/>
            <a:pathLst>
              <a:path w="9798490" h="8229600">
                <a:moveTo>
                  <a:pt x="0" y="0"/>
                </a:moveTo>
                <a:lnTo>
                  <a:pt x="9798491" y="0"/>
                </a:lnTo>
                <a:lnTo>
                  <a:pt x="97984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-11691" r="0" b="-11691"/>
            </a:stretch>
          </a:blipFill>
        </p:spPr>
      </p:sp>
      <p:sp>
        <p:nvSpPr>
          <p:cNvPr id="1048646" name="TextBox 9"/>
          <p:cNvSpPr txBox="1"/>
          <p:nvPr/>
        </p:nvSpPr>
        <p:spPr>
          <a:xfrm rot="0">
            <a:off x="544926" y="1180494"/>
            <a:ext cx="9065499" cy="3020568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7928"/>
              </a:lnSpc>
            </a:pPr>
            <a:r>
              <a:rPr sz="7928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ADIDAS SALES PERFORMANCE ANALYSIS</a:t>
            </a:r>
          </a:p>
        </p:txBody>
      </p:sp>
      <p:sp>
        <p:nvSpPr>
          <p:cNvPr id="1048647" name="TextBox 10"/>
          <p:cNvSpPr txBox="1"/>
          <p:nvPr/>
        </p:nvSpPr>
        <p:spPr>
          <a:xfrm rot="0">
            <a:off x="340714" y="7745324"/>
            <a:ext cx="14700133" cy="74676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5880"/>
              </a:lnSpc>
            </a:pPr>
            <a:r>
              <a:rPr sz="4200" lang="en-US">
                <a:solidFill>
                  <a:srgbClr val="473F3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Program: BeTechified DA July'26</a:t>
            </a:r>
          </a:p>
        </p:txBody>
      </p:sp>
      <p:sp>
        <p:nvSpPr>
          <p:cNvPr id="1048648" name="TextBox 11"/>
          <p:cNvSpPr txBox="1"/>
          <p:nvPr/>
        </p:nvSpPr>
        <p:spPr>
          <a:xfrm rot="0">
            <a:off x="0" y="5067300"/>
            <a:ext cx="7971792" cy="746759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5880"/>
              </a:lnSpc>
            </a:pPr>
            <a:r>
              <a:rPr sz="4200" lang="en-US">
                <a:solidFill>
                  <a:srgbClr val="473F3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Presented by: GROUP 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BB7B6"/>
        </a:solidFill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ext 0"/>
          <p:cNvSpPr/>
          <p:nvPr/>
        </p:nvSpPr>
        <p:spPr>
          <a:xfrm>
            <a:off x="822960" y="685800"/>
            <a:ext cx="1371600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2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Methodology</a:t>
            </a:r>
            <a:endParaRPr dirty="0" sz="2800" lang="en-US"/>
          </a:p>
        </p:txBody>
      </p:sp>
      <p:sp>
        <p:nvSpPr>
          <p:cNvPr id="1048650" name="Shape 1"/>
          <p:cNvSpPr/>
          <p:nvPr/>
        </p:nvSpPr>
        <p:spPr>
          <a:xfrm>
            <a:off x="822960" y="1851660"/>
            <a:ext cx="8092440" cy="740664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algn="bl" blurRad="76200" dir="5400000" dist="25400" kx="0" ky="0" rotWithShape="0" sx="100000" sy="100000">
              <a:srgbClr val="888888">
                <a:alpha val="25000"/>
              </a:srgbClr>
            </a:outerShdw>
          </a:effectLst>
        </p:spPr>
      </p:sp>
      <p:sp>
        <p:nvSpPr>
          <p:cNvPr id="1048651" name="Text 2"/>
          <p:cNvSpPr/>
          <p:nvPr/>
        </p:nvSpPr>
        <p:spPr>
          <a:xfrm>
            <a:off x="1303020" y="2194560"/>
            <a:ext cx="7132320" cy="6172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5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dirty="0" sz="1700" lang="en-US"/>
          </a:p>
        </p:txBody>
      </p:sp>
      <p:sp>
        <p:nvSpPr>
          <p:cNvPr id="1048652" name="Shape 3"/>
          <p:cNvSpPr/>
          <p:nvPr/>
        </p:nvSpPr>
        <p:spPr>
          <a:xfrm>
            <a:off x="1303020" y="3168396"/>
            <a:ext cx="164592" cy="164592"/>
          </a:xfrm>
          <a:prstGeom prst="ellipse"/>
          <a:solidFill>
            <a:srgbClr val="E63946"/>
          </a:solidFill>
        </p:spPr>
      </p:sp>
      <p:sp>
        <p:nvSpPr>
          <p:cNvPr id="1048653" name="Text 4"/>
          <p:cNvSpPr/>
          <p:nvPr/>
        </p:nvSpPr>
        <p:spPr>
          <a:xfrm>
            <a:off x="1714500" y="2976372"/>
            <a:ext cx="6926580" cy="6858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950" lang="en-US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profitability across products</a:t>
            </a:r>
            <a:endParaRPr dirty="0" sz="1300" lang="en-US"/>
          </a:p>
        </p:txBody>
      </p:sp>
      <p:sp>
        <p:nvSpPr>
          <p:cNvPr id="1048654" name="Shape 5"/>
          <p:cNvSpPr/>
          <p:nvPr/>
        </p:nvSpPr>
        <p:spPr>
          <a:xfrm>
            <a:off x="1303020" y="4155948"/>
            <a:ext cx="164592" cy="164592"/>
          </a:xfrm>
          <a:prstGeom prst="ellipse"/>
          <a:solidFill>
            <a:srgbClr val="E63946"/>
          </a:solidFill>
        </p:spPr>
      </p:sp>
      <p:sp>
        <p:nvSpPr>
          <p:cNvPr id="1048655" name="Text 6"/>
          <p:cNvSpPr/>
          <p:nvPr/>
        </p:nvSpPr>
        <p:spPr>
          <a:xfrm>
            <a:off x="1714500" y="3963924"/>
            <a:ext cx="6926580" cy="6858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950" lang="en-US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retailer performance</a:t>
            </a:r>
            <a:endParaRPr dirty="0" sz="1300" lang="en-US"/>
          </a:p>
        </p:txBody>
      </p:sp>
      <p:sp>
        <p:nvSpPr>
          <p:cNvPr id="1048656" name="Shape 7"/>
          <p:cNvSpPr/>
          <p:nvPr/>
        </p:nvSpPr>
        <p:spPr>
          <a:xfrm>
            <a:off x="1303020" y="5143500"/>
            <a:ext cx="164592" cy="164592"/>
          </a:xfrm>
          <a:prstGeom prst="ellipse"/>
          <a:solidFill>
            <a:srgbClr val="E63946"/>
          </a:solidFill>
        </p:spPr>
      </p:sp>
      <p:sp>
        <p:nvSpPr>
          <p:cNvPr id="1048657" name="Text 8"/>
          <p:cNvSpPr/>
          <p:nvPr/>
        </p:nvSpPr>
        <p:spPr>
          <a:xfrm>
            <a:off x="1714500" y="4951476"/>
            <a:ext cx="6926580" cy="6858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950" lang="en-US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regional profitability</a:t>
            </a:r>
            <a:endParaRPr dirty="0" sz="1300" lang="en-US"/>
          </a:p>
        </p:txBody>
      </p:sp>
      <p:sp>
        <p:nvSpPr>
          <p:cNvPr id="1048658" name="Shape 9"/>
          <p:cNvSpPr/>
          <p:nvPr/>
        </p:nvSpPr>
        <p:spPr>
          <a:xfrm>
            <a:off x="1303020" y="6131052"/>
            <a:ext cx="164592" cy="164592"/>
          </a:xfrm>
          <a:prstGeom prst="ellipse"/>
          <a:solidFill>
            <a:srgbClr val="E63946"/>
          </a:solidFill>
        </p:spPr>
      </p:sp>
      <p:sp>
        <p:nvSpPr>
          <p:cNvPr id="1048659" name="Text 10"/>
          <p:cNvSpPr/>
          <p:nvPr/>
        </p:nvSpPr>
        <p:spPr>
          <a:xfrm>
            <a:off x="1714500" y="5939028"/>
            <a:ext cx="6926580" cy="6858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950" lang="en-US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monthly sales trends</a:t>
            </a:r>
            <a:endParaRPr dirty="0" sz="1300" lang="en-US"/>
          </a:p>
        </p:txBody>
      </p:sp>
      <p:sp>
        <p:nvSpPr>
          <p:cNvPr id="1048660" name="Shape 11"/>
          <p:cNvSpPr/>
          <p:nvPr/>
        </p:nvSpPr>
        <p:spPr>
          <a:xfrm>
            <a:off x="1303020" y="7118604"/>
            <a:ext cx="164592" cy="164592"/>
          </a:xfrm>
          <a:prstGeom prst="ellipse"/>
          <a:solidFill>
            <a:srgbClr val="E63946"/>
          </a:solidFill>
        </p:spPr>
      </p:sp>
      <p:sp>
        <p:nvSpPr>
          <p:cNvPr id="1048661" name="Text 12"/>
          <p:cNvSpPr/>
          <p:nvPr/>
        </p:nvSpPr>
        <p:spPr>
          <a:xfrm>
            <a:off x="1714500" y="6926580"/>
            <a:ext cx="6926580" cy="6858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950" lang="en-US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recommendations to improve profitability</a:t>
            </a:r>
            <a:endParaRPr dirty="0" sz="1300" lang="en-US"/>
          </a:p>
        </p:txBody>
      </p:sp>
      <p:sp>
        <p:nvSpPr>
          <p:cNvPr id="1048662" name="Shape 13"/>
          <p:cNvSpPr/>
          <p:nvPr/>
        </p:nvSpPr>
        <p:spPr>
          <a:xfrm>
            <a:off x="9326880" y="1851660"/>
            <a:ext cx="8092440" cy="7406640"/>
          </a:xfrm>
          <a:prstGeom prst="roundRect">
            <a:avLst>
              <a:gd name="adj" fmla="val 1481"/>
            </a:avLst>
          </a:prstGeom>
          <a:solidFill>
            <a:srgbClr val="1E2761"/>
          </a:solidFill>
          <a:effectLst>
            <a:outerShdw algn="bl" blurRad="76200" dir="5400000" dist="25400" kx="0" ky="0" rotWithShape="0" sx="100000" sy="100000">
              <a:srgbClr val="888888">
                <a:alpha val="25000"/>
              </a:srgbClr>
            </a:outerShdw>
          </a:effectLst>
        </p:spPr>
      </p:sp>
      <p:sp>
        <p:nvSpPr>
          <p:cNvPr id="1048663" name="Text 14"/>
          <p:cNvSpPr/>
          <p:nvPr/>
        </p:nvSpPr>
        <p:spPr>
          <a:xfrm>
            <a:off x="9806940" y="2194560"/>
            <a:ext cx="7132320" cy="6172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5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dirty="0" sz="1700" lang="en-US"/>
          </a:p>
        </p:txBody>
      </p:sp>
      <p:sp>
        <p:nvSpPr>
          <p:cNvPr id="1048664" name="Text 15"/>
          <p:cNvSpPr/>
          <p:nvPr/>
        </p:nvSpPr>
        <p:spPr>
          <a:xfrm>
            <a:off x="9806940" y="3017520"/>
            <a:ext cx="7132320" cy="150876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20000"/>
              </a:lnSpc>
              <a:buNone/>
            </a:pPr>
            <a:r>
              <a:rPr dirty="0" sz="19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PivotTables, PivotCharts, slicers, and KPI cards were used to summarize and visualize the Adidas sales dataset.</a:t>
            </a:r>
            <a:endParaRPr dirty="0" sz="1300" lang="en-US"/>
          </a:p>
        </p:txBody>
      </p:sp>
      <p:sp>
        <p:nvSpPr>
          <p:cNvPr id="1048665" name="Shape 16"/>
          <p:cNvSpPr/>
          <p:nvPr/>
        </p:nvSpPr>
        <p:spPr>
          <a:xfrm>
            <a:off x="9806940" y="4594860"/>
            <a:ext cx="7132320" cy="0"/>
          </a:xfrm>
          <a:prstGeom prst="line"/>
          <a:noFill/>
          <a:ln w="12700">
            <a:solidFill>
              <a:srgbClr val="3B4A8F"/>
            </a:solidFill>
            <a:prstDash val="solid"/>
          </a:ln>
        </p:spPr>
      </p:sp>
      <p:sp>
        <p:nvSpPr>
          <p:cNvPr id="1048666" name="Text 17"/>
          <p:cNvSpPr/>
          <p:nvPr/>
        </p:nvSpPr>
        <p:spPr>
          <a:xfrm>
            <a:off x="9806940" y="4869180"/>
            <a:ext cx="713232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Process</a:t>
            </a:r>
            <a:endParaRPr dirty="0" sz="1500" lang="en-US"/>
          </a:p>
        </p:txBody>
      </p:sp>
      <p:sp>
        <p:nvSpPr>
          <p:cNvPr id="1048667" name="Shape 18"/>
          <p:cNvSpPr/>
          <p:nvPr/>
        </p:nvSpPr>
        <p:spPr>
          <a:xfrm>
            <a:off x="9806940" y="5637276"/>
            <a:ext cx="137160" cy="137160"/>
          </a:xfrm>
          <a:prstGeom prst="ellipse"/>
          <a:solidFill>
            <a:srgbClr val="CADCFC"/>
          </a:solidFill>
        </p:spPr>
      </p:sp>
      <p:sp>
        <p:nvSpPr>
          <p:cNvPr id="1048668" name="Text 19"/>
          <p:cNvSpPr/>
          <p:nvPr/>
        </p:nvSpPr>
        <p:spPr>
          <a:xfrm>
            <a:off x="10177272" y="5417820"/>
            <a:ext cx="6446520" cy="5760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875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records</a:t>
            </a:r>
            <a:endParaRPr dirty="0" sz="1250" lang="en-US"/>
          </a:p>
        </p:txBody>
      </p:sp>
      <p:sp>
        <p:nvSpPr>
          <p:cNvPr id="1048669" name="Shape 20"/>
          <p:cNvSpPr/>
          <p:nvPr/>
        </p:nvSpPr>
        <p:spPr>
          <a:xfrm>
            <a:off x="9806940" y="6323076"/>
            <a:ext cx="137160" cy="137160"/>
          </a:xfrm>
          <a:prstGeom prst="ellipse"/>
          <a:solidFill>
            <a:srgbClr val="CADCFC"/>
          </a:solidFill>
        </p:spPr>
      </p:sp>
      <p:sp>
        <p:nvSpPr>
          <p:cNvPr id="1048670" name="Text 21"/>
          <p:cNvSpPr/>
          <p:nvPr/>
        </p:nvSpPr>
        <p:spPr>
          <a:xfrm>
            <a:off x="10177272" y="6103620"/>
            <a:ext cx="6446520" cy="5760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875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</a:t>
            </a:r>
            <a:endParaRPr dirty="0" sz="1250" lang="en-US"/>
          </a:p>
        </p:txBody>
      </p:sp>
      <p:sp>
        <p:nvSpPr>
          <p:cNvPr id="1048671" name="Shape 22"/>
          <p:cNvSpPr/>
          <p:nvPr/>
        </p:nvSpPr>
        <p:spPr>
          <a:xfrm>
            <a:off x="9806940" y="7008876"/>
            <a:ext cx="137160" cy="137160"/>
          </a:xfrm>
          <a:prstGeom prst="ellipse"/>
          <a:solidFill>
            <a:srgbClr val="CADCFC"/>
          </a:solidFill>
        </p:spPr>
      </p:sp>
      <p:sp>
        <p:nvSpPr>
          <p:cNvPr id="1048672" name="Text 23"/>
          <p:cNvSpPr/>
          <p:nvPr/>
        </p:nvSpPr>
        <p:spPr>
          <a:xfrm>
            <a:off x="10177272" y="6789420"/>
            <a:ext cx="6446520" cy="5760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875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date formats</a:t>
            </a:r>
            <a:endParaRPr dirty="0" sz="1250" lang="en-US"/>
          </a:p>
        </p:txBody>
      </p:sp>
      <p:sp>
        <p:nvSpPr>
          <p:cNvPr id="1048673" name="Shape 24"/>
          <p:cNvSpPr/>
          <p:nvPr/>
        </p:nvSpPr>
        <p:spPr>
          <a:xfrm>
            <a:off x="9806940" y="7694676"/>
            <a:ext cx="137160" cy="137160"/>
          </a:xfrm>
          <a:prstGeom prst="ellipse"/>
          <a:solidFill>
            <a:srgbClr val="CADCFC"/>
          </a:solidFill>
        </p:spPr>
      </p:sp>
      <p:sp>
        <p:nvSpPr>
          <p:cNvPr id="1048674" name="Text 25"/>
          <p:cNvSpPr/>
          <p:nvPr/>
        </p:nvSpPr>
        <p:spPr>
          <a:xfrm>
            <a:off x="10177272" y="7475220"/>
            <a:ext cx="6446520" cy="5760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875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numeric fields</a:t>
            </a:r>
            <a:endParaRPr dirty="0" sz="1250" lang="en-US"/>
          </a:p>
        </p:txBody>
      </p:sp>
      <p:sp>
        <p:nvSpPr>
          <p:cNvPr id="1048675" name="Shape 26"/>
          <p:cNvSpPr/>
          <p:nvPr/>
        </p:nvSpPr>
        <p:spPr>
          <a:xfrm>
            <a:off x="9806940" y="8380476"/>
            <a:ext cx="137160" cy="137160"/>
          </a:xfrm>
          <a:prstGeom prst="ellipse"/>
          <a:solidFill>
            <a:srgbClr val="CADCFC"/>
          </a:solidFill>
        </p:spPr>
      </p:sp>
      <p:sp>
        <p:nvSpPr>
          <p:cNvPr id="1048676" name="Text 27"/>
          <p:cNvSpPr/>
          <p:nvPr/>
        </p:nvSpPr>
        <p:spPr>
          <a:xfrm>
            <a:off x="10177272" y="8161020"/>
            <a:ext cx="6446520" cy="5760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875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PivotTables for the dashboard</a:t>
            </a:r>
            <a:endParaRPr dirty="0" sz="1250" lang="en-US"/>
          </a:p>
        </p:txBody>
      </p:sp>
      <p:sp>
        <p:nvSpPr>
          <p:cNvPr id="1048677" name="Text 28"/>
          <p:cNvSpPr/>
          <p:nvPr/>
        </p:nvSpPr>
        <p:spPr>
          <a:xfrm>
            <a:off x="685800" y="9738360"/>
            <a:ext cx="1097280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 |  Board Presentation</a:t>
            </a:r>
            <a:endParaRPr dirty="0" sz="900" lang="en-US"/>
          </a:p>
        </p:txBody>
      </p:sp>
      <p:sp>
        <p:nvSpPr>
          <p:cNvPr id="1048678" name="Text 29"/>
          <p:cNvSpPr/>
          <p:nvPr/>
        </p:nvSpPr>
        <p:spPr>
          <a:xfrm>
            <a:off x="16915942" y="9738360"/>
            <a:ext cx="685800" cy="41148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3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90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634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635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36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637" name="Freeform 6"/>
          <p:cNvSpPr/>
          <p:nvPr/>
        </p:nvSpPr>
        <p:spPr>
          <a:xfrm rot="0" flipH="0" flipV="0">
            <a:off x="8991600" y="1740778"/>
            <a:ext cx="8744681" cy="5083575"/>
          </a:xfrm>
          <a:custGeom>
            <a:avLst/>
            <a:ahLst/>
            <a:rect l="l" t="t" r="r" b="b"/>
            <a:pathLst>
              <a:path w="8744681" h="5083575">
                <a:moveTo>
                  <a:pt x="0" y="0"/>
                </a:moveTo>
                <a:lnTo>
                  <a:pt x="8744681" y="0"/>
                </a:lnTo>
                <a:lnTo>
                  <a:pt x="8744681" y="5083574"/>
                </a:lnTo>
                <a:lnTo>
                  <a:pt x="0" y="508357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grpSp>
        <p:nvGrpSpPr>
          <p:cNvPr id="56" name="Group 7"/>
          <p:cNvGrpSpPr/>
          <p:nvPr/>
        </p:nvGrpSpPr>
        <p:grpSpPr>
          <a:xfrm rot="0">
            <a:off x="666750" y="773906"/>
            <a:ext cx="8324850" cy="2775482"/>
            <a:chOff x="0" y="142875"/>
            <a:chExt cx="11099800" cy="3700643"/>
          </a:xfrm>
        </p:grpSpPr>
        <p:sp>
          <p:nvSpPr>
            <p:cNvPr id="1048638" name="TextBox 8"/>
            <p:cNvSpPr txBox="1"/>
            <p:nvPr/>
          </p:nvSpPr>
          <p:spPr>
            <a:xfrm rot="0">
              <a:off x="0" y="1875197"/>
              <a:ext cx="11099800" cy="1968321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900"/>
                </a:lnSpc>
              </a:pPr>
              <a:r>
                <a:rPr sz="3000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Total sales surged from $182.08M in 2020 to $717.82M in 2021, marking an impressive YoY growth of approximately 294%.</a:t>
              </a:r>
            </a:p>
          </p:txBody>
        </p:sp>
        <p:sp>
          <p:nvSpPr>
            <p:cNvPr id="1048639" name="TextBox 9"/>
            <p:cNvSpPr txBox="1"/>
            <p:nvPr/>
          </p:nvSpPr>
          <p:spPr>
            <a:xfrm rot="0">
              <a:off x="0" y="142875"/>
              <a:ext cx="11099800" cy="134095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7919"/>
                </a:lnSpc>
              </a:pPr>
              <a:r>
                <a:rPr sz="791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SALES OVERVIEW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613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614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15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616" name="TextBox 6"/>
          <p:cNvSpPr txBox="1"/>
          <p:nvPr/>
        </p:nvSpPr>
        <p:spPr>
          <a:xfrm rot="0">
            <a:off x="666750" y="809625"/>
            <a:ext cx="14077950" cy="1019683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8029"/>
              </a:lnSpc>
            </a:pPr>
            <a:r>
              <a:rPr sz="8029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MONTHLY SALES HIGHLIGHTS</a:t>
            </a:r>
          </a:p>
        </p:txBody>
      </p:sp>
      <p:sp>
        <p:nvSpPr>
          <p:cNvPr id="1048617" name="TextBox 7"/>
          <p:cNvSpPr txBox="1"/>
          <p:nvPr/>
        </p:nvSpPr>
        <p:spPr>
          <a:xfrm rot="0">
            <a:off x="666750" y="4400595"/>
            <a:ext cx="2856970" cy="457155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54"/>
              </a:lnSpc>
              <a:spcBef>
                <a:spcPct val="0"/>
              </a:spcBef>
            </a:pPr>
            <a:r>
              <a:rPr b="1" sz="2962" lang="en-US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HIGHEST SALES</a:t>
            </a:r>
          </a:p>
        </p:txBody>
      </p:sp>
      <p:sp>
        <p:nvSpPr>
          <p:cNvPr id="1048618" name="TextBox 8"/>
          <p:cNvSpPr txBox="1"/>
          <p:nvPr/>
        </p:nvSpPr>
        <p:spPr>
          <a:xfrm rot="0">
            <a:off x="6437076" y="4400595"/>
            <a:ext cx="2859324" cy="457155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54"/>
              </a:lnSpc>
              <a:spcBef>
                <a:spcPct val="0"/>
              </a:spcBef>
            </a:pPr>
            <a:r>
              <a:rPr b="1" sz="2962" lang="en-US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LOWEST SALES</a:t>
            </a:r>
          </a:p>
        </p:txBody>
      </p:sp>
      <p:sp>
        <p:nvSpPr>
          <p:cNvPr id="1048619" name="AutoShape 9"/>
          <p:cNvSpPr/>
          <p:nvPr/>
        </p:nvSpPr>
        <p:spPr>
          <a:xfrm>
            <a:off x="990600" y="5457825"/>
            <a:ext cx="17607376" cy="0"/>
          </a:xfrm>
          <a:prstGeom prst="line"/>
          <a:ln w="19050" cap="flat">
            <a:solidFill>
              <a:srgbClr val="4A7C6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8" name="Group 10"/>
          <p:cNvGrpSpPr/>
          <p:nvPr/>
        </p:nvGrpSpPr>
        <p:grpSpPr>
          <a:xfrm rot="0">
            <a:off x="666750" y="5295900"/>
            <a:ext cx="323850" cy="323850"/>
            <a:chOff x="0" y="0"/>
            <a:chExt cx="6350000" cy="6350000"/>
          </a:xfrm>
        </p:grpSpPr>
        <p:sp>
          <p:nvSpPr>
            <p:cNvPr id="1048620" name="Freeform 11"/>
            <p:cNvSpPr/>
            <p:nvPr/>
          </p:nvSpPr>
          <p:spPr>
            <a:xfrm rot="0" flipH="0" flipV="0">
              <a:off x="0" y="0"/>
              <a:ext cx="6350000" cy="6350000"/>
            </a:xfrm>
            <a:custGeom>
              <a:avLst/>
              <a:ah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A7C6A"/>
            </a:solidFill>
          </p:spPr>
        </p:sp>
      </p:grpSp>
      <p:grpSp>
        <p:nvGrpSpPr>
          <p:cNvPr id="49" name="Group 12"/>
          <p:cNvGrpSpPr/>
          <p:nvPr/>
        </p:nvGrpSpPr>
        <p:grpSpPr>
          <a:xfrm rot="0">
            <a:off x="6443576" y="5295900"/>
            <a:ext cx="323850" cy="323850"/>
            <a:chOff x="0" y="0"/>
            <a:chExt cx="6350000" cy="6350000"/>
          </a:xfrm>
        </p:grpSpPr>
        <p:sp>
          <p:nvSpPr>
            <p:cNvPr id="1048621" name="Freeform 13"/>
            <p:cNvSpPr/>
            <p:nvPr/>
          </p:nvSpPr>
          <p:spPr>
            <a:xfrm rot="0" flipH="0" flipV="0">
              <a:off x="0" y="0"/>
              <a:ext cx="6350000" cy="6350000"/>
            </a:xfrm>
            <a:custGeom>
              <a:avLst/>
              <a:ah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A7C6A"/>
            </a:solidFill>
          </p:spPr>
        </p:sp>
      </p:grpSp>
      <p:grpSp>
        <p:nvGrpSpPr>
          <p:cNvPr id="50" name="Group 14"/>
          <p:cNvGrpSpPr/>
          <p:nvPr/>
        </p:nvGrpSpPr>
        <p:grpSpPr>
          <a:xfrm rot="0">
            <a:off x="12202645" y="5295900"/>
            <a:ext cx="323850" cy="323850"/>
            <a:chOff x="0" y="0"/>
            <a:chExt cx="6350000" cy="6350000"/>
          </a:xfrm>
        </p:grpSpPr>
        <p:sp>
          <p:nvSpPr>
            <p:cNvPr id="1048622" name="Freeform 15"/>
            <p:cNvSpPr/>
            <p:nvPr/>
          </p:nvSpPr>
          <p:spPr>
            <a:xfrm rot="0" flipH="0" flipV="0">
              <a:off x="0" y="0"/>
              <a:ext cx="6350000" cy="6350000"/>
            </a:xfrm>
            <a:custGeom>
              <a:avLst/>
              <a:ah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A7C6A"/>
            </a:solidFill>
          </p:spPr>
        </p:sp>
      </p:grpSp>
      <p:sp>
        <p:nvSpPr>
          <p:cNvPr id="1048623" name="TextBox 16"/>
          <p:cNvSpPr txBox="1"/>
          <p:nvPr/>
        </p:nvSpPr>
        <p:spPr>
          <a:xfrm rot="0">
            <a:off x="12192000" y="4400595"/>
            <a:ext cx="2859324" cy="457155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54"/>
              </a:lnSpc>
              <a:spcBef>
                <a:spcPct val="0"/>
              </a:spcBef>
            </a:pPr>
            <a:r>
              <a:rPr b="1" sz="2962" lang="en-US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YOY GROWTH</a:t>
            </a:r>
          </a:p>
        </p:txBody>
      </p:sp>
      <p:sp>
        <p:nvSpPr>
          <p:cNvPr id="1048624" name="TextBox 17"/>
          <p:cNvSpPr txBox="1"/>
          <p:nvPr/>
        </p:nvSpPr>
        <p:spPr>
          <a:xfrm rot="0">
            <a:off x="666750" y="5991225"/>
            <a:ext cx="4010025" cy="10572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4200"/>
              </a:lnSpc>
              <a:spcBef>
                <a:spcPct val="0"/>
              </a:spcBef>
            </a:pPr>
            <a:r>
              <a:rPr sz="3000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July marked the peak sales month.</a:t>
            </a:r>
          </a:p>
        </p:txBody>
      </p:sp>
      <p:sp>
        <p:nvSpPr>
          <p:cNvPr id="1048625" name="TextBox 18"/>
          <p:cNvSpPr txBox="1"/>
          <p:nvPr/>
        </p:nvSpPr>
        <p:spPr>
          <a:xfrm rot="0">
            <a:off x="6443576" y="5991225"/>
            <a:ext cx="3986299" cy="10572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4200"/>
              </a:lnSpc>
              <a:spcBef>
                <a:spcPct val="0"/>
              </a:spcBef>
            </a:pPr>
            <a:r>
              <a:rPr sz="3000" lang="en-US" strike="noStrike" u="none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March recorded the lowest sales figures.</a:t>
            </a:r>
          </a:p>
        </p:txBody>
      </p:sp>
      <p:sp>
        <p:nvSpPr>
          <p:cNvPr id="1048626" name="TextBox 19"/>
          <p:cNvSpPr txBox="1"/>
          <p:nvPr/>
        </p:nvSpPr>
        <p:spPr>
          <a:xfrm rot="0">
            <a:off x="12172950" y="5991225"/>
            <a:ext cx="4010025" cy="1590608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4200"/>
              </a:lnSpc>
              <a:spcBef>
                <a:spcPct val="0"/>
              </a:spcBef>
            </a:pPr>
            <a:r>
              <a:rPr sz="3000" lang="en-US" strike="noStrike" u="none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December saw exceptional year-over-year growth.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602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603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04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605" name="Freeform 6"/>
          <p:cNvSpPr/>
          <p:nvPr/>
        </p:nvSpPr>
        <p:spPr>
          <a:xfrm rot="0" flipH="0" flipV="0">
            <a:off x="1379839" y="1028700"/>
            <a:ext cx="13336892" cy="9846494"/>
          </a:xfrm>
          <a:custGeom>
            <a:avLst/>
            <a:ahLst/>
            <a:rect l="l" t="t" r="r" b="b"/>
            <a:pathLst>
              <a:path w="13336892" h="9846494">
                <a:moveTo>
                  <a:pt x="0" y="0"/>
                </a:moveTo>
                <a:lnTo>
                  <a:pt x="13336892" y="0"/>
                </a:lnTo>
                <a:lnTo>
                  <a:pt x="13336892" y="9846494"/>
                </a:lnTo>
                <a:lnTo>
                  <a:pt x="0" y="984649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-4346" t="0" r="-4346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584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585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586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587" name="TextBox 6"/>
          <p:cNvSpPr txBox="1"/>
          <p:nvPr/>
        </p:nvSpPr>
        <p:spPr>
          <a:xfrm rot="0">
            <a:off x="666750" y="828675"/>
            <a:ext cx="14077950" cy="2234946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8799"/>
              </a:lnSpc>
            </a:pPr>
            <a:r>
              <a:rPr sz="8799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QUARTERLY SALES PERFORMANCE</a:t>
            </a:r>
          </a:p>
        </p:txBody>
      </p:sp>
      <p:grpSp>
        <p:nvGrpSpPr>
          <p:cNvPr id="28" name="Group 10"/>
          <p:cNvGrpSpPr/>
          <p:nvPr/>
        </p:nvGrpSpPr>
        <p:grpSpPr>
          <a:xfrm rot="0">
            <a:off x="666750" y="5295900"/>
            <a:ext cx="323850" cy="323850"/>
            <a:chOff x="0" y="0"/>
            <a:chExt cx="6350000" cy="6350000"/>
          </a:xfrm>
        </p:grpSpPr>
        <p:sp>
          <p:nvSpPr>
            <p:cNvPr id="1048591" name="Freeform 11"/>
            <p:cNvSpPr/>
            <p:nvPr/>
          </p:nvSpPr>
          <p:spPr>
            <a:xfrm rot="0" flipH="0" flipV="0">
              <a:off x="0" y="0"/>
              <a:ext cx="6350000" cy="6350000"/>
            </a:xfrm>
            <a:custGeom>
              <a:avLst/>
              <a:ah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A7C6A"/>
            </a:solidFill>
          </p:spPr>
        </p:sp>
      </p:grpSp>
      <p:grpSp>
        <p:nvGrpSpPr>
          <p:cNvPr id="30" name="Group 14"/>
          <p:cNvGrpSpPr/>
          <p:nvPr/>
        </p:nvGrpSpPr>
        <p:grpSpPr>
          <a:xfrm rot="0">
            <a:off x="12202645" y="5295900"/>
            <a:ext cx="323850" cy="323850"/>
            <a:chOff x="0" y="0"/>
            <a:chExt cx="6350000" cy="6350000"/>
          </a:xfrm>
        </p:grpSpPr>
        <p:sp>
          <p:nvSpPr>
            <p:cNvPr id="1048593" name="Freeform 15"/>
            <p:cNvSpPr/>
            <p:nvPr/>
          </p:nvSpPr>
          <p:spPr>
            <a:xfrm rot="0" flipH="0" flipV="0">
              <a:off x="0" y="0"/>
              <a:ext cx="6350000" cy="6350000"/>
            </a:xfrm>
            <a:custGeom>
              <a:avLst/>
              <a:ah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A7C6A"/>
            </a:solidFill>
          </p:spPr>
        </p:sp>
      </p:grpSp>
      <p:pic>
        <p:nvPicPr>
          <p:cNvPr id="2097158" name=""/>
          <p:cNvPicPr>
            <a:picLocks/>
          </p:cNvPicPr>
          <p:nvPr/>
        </p:nvPicPr>
        <p:blipFill>
          <a:blip xmlns:r="http://schemas.openxmlformats.org/officeDocument/2006/relationships" r:embed="rId2"/>
          <a:srcRect l="4848" t="46012" r="4309" b="38290"/>
          <a:stretch>
            <a:fillRect/>
          </a:stretch>
        </p:blipFill>
        <p:spPr>
          <a:xfrm rot="0">
            <a:off x="291338" y="3139596"/>
            <a:ext cx="17802446" cy="4945335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598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599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00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601" name="Freeform 6"/>
          <p:cNvSpPr/>
          <p:nvPr/>
        </p:nvSpPr>
        <p:spPr>
          <a:xfrm rot="0" flipH="0" flipV="0">
            <a:off x="1028700" y="340384"/>
            <a:ext cx="15714688" cy="8101614"/>
          </a:xfrm>
          <a:custGeom>
            <a:avLst/>
            <a:ahLst/>
            <a:rect l="l" t="t" r="r" b="b"/>
            <a:pathLst>
              <a:path w="15714688" h="8101614">
                <a:moveTo>
                  <a:pt x="0" y="0"/>
                </a:moveTo>
                <a:lnTo>
                  <a:pt x="15714688" y="0"/>
                </a:lnTo>
                <a:lnTo>
                  <a:pt x="15714688" y="8101613"/>
                </a:lnTo>
                <a:lnTo>
                  <a:pt x="0" y="810161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606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607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08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609" name="Freeform 6"/>
          <p:cNvSpPr/>
          <p:nvPr/>
        </p:nvSpPr>
        <p:spPr>
          <a:xfrm rot="0" flipH="0" flipV="0">
            <a:off x="313250" y="2004694"/>
            <a:ext cx="10509770" cy="6857426"/>
          </a:xfrm>
          <a:custGeom>
            <a:avLst/>
            <a:ahLst/>
            <a:rect l="l" t="t" r="r" b="b"/>
            <a:pathLst>
              <a:path w="10509770" h="6857426">
                <a:moveTo>
                  <a:pt x="0" y="0"/>
                </a:moveTo>
                <a:lnTo>
                  <a:pt x="10509770" y="0"/>
                </a:lnTo>
                <a:lnTo>
                  <a:pt x="10509770" y="6857427"/>
                </a:lnTo>
                <a:lnTo>
                  <a:pt x="0" y="685742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-5770" t="0" r="-1876" b="0"/>
            </a:stretch>
          </a:blipFill>
        </p:spPr>
      </p:sp>
      <p:sp>
        <p:nvSpPr>
          <p:cNvPr id="1048610" name="TextBox 7"/>
          <p:cNvSpPr txBox="1"/>
          <p:nvPr/>
        </p:nvSpPr>
        <p:spPr>
          <a:xfrm rot="0">
            <a:off x="666750" y="800100"/>
            <a:ext cx="16954500" cy="982472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7736"/>
              </a:lnSpc>
            </a:pPr>
            <a:r>
              <a:rPr sz="7736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PRODUCT CATEGORY PERFORMANCE</a:t>
            </a:r>
          </a:p>
        </p:txBody>
      </p:sp>
      <p:grpSp>
        <p:nvGrpSpPr>
          <p:cNvPr id="45" name="Group 8"/>
          <p:cNvGrpSpPr/>
          <p:nvPr/>
        </p:nvGrpSpPr>
        <p:grpSpPr>
          <a:xfrm rot="0">
            <a:off x="11587410" y="2004694"/>
            <a:ext cx="6347345" cy="5257487"/>
            <a:chOff x="0" y="0"/>
            <a:chExt cx="8463126" cy="7009982"/>
          </a:xfrm>
        </p:grpSpPr>
        <p:sp>
          <p:nvSpPr>
            <p:cNvPr id="1048611" name="TextBox 9"/>
            <p:cNvSpPr txBox="1"/>
            <p:nvPr/>
          </p:nvSpPr>
          <p:spPr>
            <a:xfrm rot="0">
              <a:off x="0" y="-9525"/>
              <a:ext cx="8463126" cy="61918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600"/>
                </a:lnSpc>
                <a:spcBef>
                  <a:spcPct val="0"/>
                </a:spcBef>
              </a:pPr>
              <a:r>
                <a:rPr b="1" sz="3000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KEY SALES INSIGHTS OVERVIEW</a:t>
              </a:r>
            </a:p>
          </p:txBody>
        </p:sp>
        <p:sp>
          <p:nvSpPr>
            <p:cNvPr id="1048612" name="TextBox 10"/>
            <p:cNvSpPr txBox="1"/>
            <p:nvPr/>
          </p:nvSpPr>
          <p:spPr>
            <a:xfrm rot="0">
              <a:off x="0" y="1739960"/>
              <a:ext cx="8463126" cy="5270023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-323850" lvl="1" marL="647700">
                <a:lnSpc>
                  <a:spcPts val="3900"/>
                </a:lnSpc>
                <a:buFont typeface="Arial"/>
                <a:buChar char="•"/>
              </a:pPr>
              <a:r>
                <a:rPr sz="3000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Men's Street Footwear: $208.83M sales</a:t>
              </a:r>
            </a:p>
            <a:p>
              <a:pPr algn="l" indent="-323850" lvl="1" marL="647700">
                <a:lnSpc>
                  <a:spcPts val="3900"/>
                </a:lnSpc>
                <a:buFont typeface="Arial"/>
                <a:buChar char="•"/>
              </a:pPr>
              <a:r>
                <a:rPr sz="3000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Women's Apparel: $179.04M sales</a:t>
              </a:r>
            </a:p>
            <a:p>
              <a:pPr algn="l" indent="-323850" lvl="1" marL="647700">
                <a:lnSpc>
                  <a:spcPts val="3900"/>
                </a:lnSpc>
                <a:buFont typeface="Arial"/>
                <a:buChar char="•"/>
              </a:pPr>
              <a:r>
                <a:rPr sz="3000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Men's Athletic Footwear: $153.67M sales</a:t>
              </a:r>
            </a:p>
            <a:p>
              <a:pPr algn="l" indent="-323850" lvl="1" marL="647700">
                <a:lnSpc>
                  <a:spcPts val="3900"/>
                </a:lnSpc>
                <a:buFont typeface="Arial"/>
                <a:buChar char="•"/>
              </a:pPr>
              <a:r>
                <a:rPr sz="3000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Lowest Margin: Women's Athletic Footwear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627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628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29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630" name="Freeform 6"/>
          <p:cNvSpPr/>
          <p:nvPr/>
        </p:nvSpPr>
        <p:spPr>
          <a:xfrm rot="0" flipH="0" flipV="0">
            <a:off x="0" y="2365207"/>
            <a:ext cx="9927051" cy="5056003"/>
          </a:xfrm>
          <a:custGeom>
            <a:avLst/>
            <a:ahLst/>
            <a:rect l="l" t="t" r="r" b="b"/>
            <a:pathLst>
              <a:path w="9768219" h="3771107">
                <a:moveTo>
                  <a:pt x="0" y="0"/>
                </a:moveTo>
                <a:lnTo>
                  <a:pt x="9768219" y="0"/>
                </a:lnTo>
                <a:lnTo>
                  <a:pt x="9768219" y="3771107"/>
                </a:lnTo>
                <a:lnTo>
                  <a:pt x="0" y="377110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-2559"/>
            </a:stretch>
          </a:blipFill>
        </p:spPr>
      </p:sp>
      <p:sp>
        <p:nvSpPr>
          <p:cNvPr id="1048631" name="TextBox 7"/>
          <p:cNvSpPr txBox="1"/>
          <p:nvPr/>
        </p:nvSpPr>
        <p:spPr>
          <a:xfrm rot="0">
            <a:off x="666750" y="828675"/>
            <a:ext cx="16954500" cy="1089661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8580"/>
              </a:lnSpc>
            </a:pPr>
            <a:r>
              <a:rPr sz="8580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REGIONAL SALES PERFORMANCE</a:t>
            </a:r>
          </a:p>
        </p:txBody>
      </p:sp>
      <p:grpSp>
        <p:nvGrpSpPr>
          <p:cNvPr id="53" name="Group 8"/>
          <p:cNvGrpSpPr/>
          <p:nvPr/>
        </p:nvGrpSpPr>
        <p:grpSpPr>
          <a:xfrm rot="28511">
            <a:off x="9160019" y="2619447"/>
            <a:ext cx="8465014" cy="2893436"/>
            <a:chOff x="0" y="-9525"/>
            <a:chExt cx="11286688" cy="1770408"/>
          </a:xfrm>
        </p:grpSpPr>
        <p:sp>
          <p:nvSpPr>
            <p:cNvPr id="1048632" name="TextBox 9"/>
            <p:cNvSpPr txBox="1"/>
            <p:nvPr/>
          </p:nvSpPr>
          <p:spPr>
            <a:xfrm rot="0">
              <a:off x="0" y="-9525"/>
              <a:ext cx="11099800" cy="279748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600"/>
                </a:lnSpc>
                <a:spcBef>
                  <a:spcPct val="0"/>
                </a:spcBef>
              </a:pPr>
              <a:r>
                <a:rPr b="1" sz="3000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DISTRIBUTION OF TOTAL SALES BY REGION</a:t>
              </a:r>
            </a:p>
          </p:txBody>
        </p:sp>
        <p:sp>
          <p:nvSpPr>
            <p:cNvPr id="1048633" name="TextBox 10"/>
            <p:cNvSpPr txBox="1"/>
            <p:nvPr/>
          </p:nvSpPr>
          <p:spPr>
            <a:xfrm rot="0">
              <a:off x="186888" y="548644"/>
              <a:ext cx="11099800" cy="1212239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-323850" lvl="1" marL="647700">
                <a:lnSpc>
                  <a:spcPts val="3900"/>
                </a:lnSpc>
                <a:buFont typeface="Arial"/>
                <a:buChar char="•"/>
              </a:pPr>
              <a:r>
                <a:rPr sz="3000" lang="en-US">
                  <a:solidFill>
                    <a:srgbClr val="473F3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West region leads sales</a:t>
              </a:r>
            </a:p>
            <a:p>
              <a:pPr algn="l" indent="-323850" lvl="1" marL="647700">
                <a:lnSpc>
                  <a:spcPts val="3900"/>
                </a:lnSpc>
                <a:buFont typeface="Arial"/>
                <a:buChar char="•"/>
              </a:pPr>
              <a:r>
                <a:rPr sz="3000" lang="en-US">
                  <a:solidFill>
                    <a:srgbClr val="473F3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Northeast shows strong performance</a:t>
              </a:r>
            </a:p>
            <a:p>
              <a:pPr algn="l" indent="-323850" lvl="1" marL="647700">
                <a:lnSpc>
                  <a:spcPts val="3900"/>
                </a:lnSpc>
                <a:buFont typeface="Arial"/>
                <a:buChar char="•"/>
              </a:pPr>
              <a:r>
                <a:rPr sz="3000" lang="en-US">
                  <a:solidFill>
                    <a:srgbClr val="473F3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Midwest region is lowest</a:t>
              </a:r>
            </a:p>
            <a:p>
              <a:pPr algn="l" indent="-323850" lvl="1" marL="647700">
                <a:lnSpc>
                  <a:spcPts val="3900"/>
                </a:lnSpc>
                <a:buFont typeface="Arial"/>
                <a:buChar char="•"/>
              </a:pPr>
              <a:r>
                <a:rPr sz="3000" lang="en-US">
                  <a:solidFill>
                    <a:srgbClr val="473F3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Southeast sales are significant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682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683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84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685" name="Freeform 6"/>
          <p:cNvSpPr/>
          <p:nvPr/>
        </p:nvSpPr>
        <p:spPr>
          <a:xfrm rot="0" flipH="0" flipV="0">
            <a:off x="318641" y="2338455"/>
            <a:ext cx="10296650" cy="5087036"/>
          </a:xfrm>
          <a:custGeom>
            <a:avLst/>
            <a:ahLst/>
            <a:rect l="l" t="t" r="r" b="b"/>
            <a:pathLst>
              <a:path w="10296650" h="5087036">
                <a:moveTo>
                  <a:pt x="0" y="0"/>
                </a:moveTo>
                <a:lnTo>
                  <a:pt x="10296651" y="0"/>
                </a:lnTo>
                <a:lnTo>
                  <a:pt x="10296651" y="5087035"/>
                </a:lnTo>
                <a:lnTo>
                  <a:pt x="0" y="508703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86" name="TextBox 7"/>
          <p:cNvSpPr txBox="1"/>
          <p:nvPr/>
        </p:nvSpPr>
        <p:spPr>
          <a:xfrm rot="0">
            <a:off x="666750" y="809625"/>
            <a:ext cx="16954500" cy="1019683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8029"/>
              </a:lnSpc>
            </a:pPr>
            <a:r>
              <a:rPr sz="8029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RETAILER PERFORMANCE RANKING</a:t>
            </a:r>
          </a:p>
        </p:txBody>
      </p:sp>
      <p:sp>
        <p:nvSpPr>
          <p:cNvPr id="1048687" name="TextBox 8"/>
          <p:cNvSpPr txBox="1"/>
          <p:nvPr/>
        </p:nvSpPr>
        <p:spPr>
          <a:xfrm rot="0">
            <a:off x="10615292" y="2865608"/>
            <a:ext cx="7672708" cy="1825751"/>
          </a:xfrm>
          <a:prstGeom prst="rect"/>
        </p:spPr>
        <p:txBody>
          <a:bodyPr anchor="t" bIns="0" lIns="0" rIns="0" rtlCol="0" tIns="0">
            <a:spAutoFit/>
          </a:bodyPr>
          <a:p>
            <a:pPr algn="l" indent="-298480" lvl="1" marL="596961">
              <a:lnSpc>
                <a:spcPts val="3594"/>
              </a:lnSpc>
              <a:buFont typeface="Arial"/>
              <a:buChar char="•"/>
            </a:pPr>
            <a:r>
              <a:rPr sz="2764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West Gear leads sales revenue</a:t>
            </a:r>
          </a:p>
          <a:p>
            <a:pPr algn="l" indent="-298480" lvl="1" marL="596961">
              <a:lnSpc>
                <a:spcPts val="3594"/>
              </a:lnSpc>
              <a:buFont typeface="Arial"/>
              <a:buChar char="•"/>
            </a:pPr>
            <a:r>
              <a:rPr sz="2764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Foot Locker ranks second overall</a:t>
            </a:r>
          </a:p>
          <a:p>
            <a:pPr algn="l" indent="-298480" lvl="1" marL="596961">
              <a:lnSpc>
                <a:spcPts val="3594"/>
              </a:lnSpc>
              <a:buFont typeface="Arial"/>
              <a:buChar char="•"/>
            </a:pPr>
            <a:r>
              <a:rPr sz="2764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Sports Direct shows strong performance</a:t>
            </a:r>
          </a:p>
          <a:p>
            <a:pPr algn="l" indent="-298480" lvl="1" marL="596961">
              <a:lnSpc>
                <a:spcPts val="3594"/>
              </a:lnSpc>
              <a:buFont typeface="Arial"/>
              <a:buChar char="•"/>
            </a:pPr>
            <a:r>
              <a:rPr sz="2764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Walmart ranks lowest in sales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688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689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90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691" name="TextBox 6"/>
          <p:cNvSpPr txBox="1"/>
          <p:nvPr/>
        </p:nvSpPr>
        <p:spPr>
          <a:xfrm rot="0">
            <a:off x="666750" y="828675"/>
            <a:ext cx="16954500" cy="1103503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8689"/>
              </a:lnSpc>
            </a:pPr>
            <a:r>
              <a:rPr sz="8689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SALES CHANNEL PERFORMANCE</a:t>
            </a:r>
          </a:p>
        </p:txBody>
      </p:sp>
      <p:grpSp>
        <p:nvGrpSpPr>
          <p:cNvPr id="70" name="Group 7"/>
          <p:cNvGrpSpPr/>
          <p:nvPr/>
        </p:nvGrpSpPr>
        <p:grpSpPr>
          <a:xfrm rot="0">
            <a:off x="9296400" y="5136357"/>
            <a:ext cx="8324850" cy="2633571"/>
            <a:chOff x="0" y="-9525"/>
            <a:chExt cx="11099800" cy="3511429"/>
          </a:xfrm>
        </p:grpSpPr>
        <p:sp>
          <p:nvSpPr>
            <p:cNvPr id="1048692" name="TextBox 8"/>
            <p:cNvSpPr txBox="1"/>
            <p:nvPr/>
          </p:nvSpPr>
          <p:spPr>
            <a:xfrm rot="0">
              <a:off x="0" y="-9525"/>
              <a:ext cx="11099800" cy="601811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OVERVIEW OF REVENUE AND MARGINS</a:t>
              </a:r>
            </a:p>
          </p:txBody>
        </p:sp>
        <p:sp>
          <p:nvSpPr>
            <p:cNvPr id="1048693" name="TextBox 9"/>
            <p:cNvSpPr txBox="1"/>
            <p:nvPr/>
          </p:nvSpPr>
          <p:spPr>
            <a:xfrm rot="0">
              <a:off x="0" y="860302"/>
              <a:ext cx="11099800" cy="264160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-323850" lvl="1" marL="647700">
                <a:lnSpc>
                  <a:spcPts val="3900"/>
                </a:lnSpc>
                <a:buFont typeface="Arial"/>
                <a:buChar char="•"/>
              </a:pPr>
              <a:r>
                <a:rPr sz="3000" lang="en-US">
                  <a:solidFill>
                    <a:srgbClr val="473F3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In-store sales generate highest revenue</a:t>
              </a:r>
            </a:p>
            <a:p>
              <a:pPr algn="l" indent="-323850" lvl="1" marL="647700">
                <a:lnSpc>
                  <a:spcPts val="3900"/>
                </a:lnSpc>
                <a:buFont typeface="Arial"/>
                <a:buChar char="•"/>
              </a:pPr>
              <a:r>
                <a:rPr sz="3000" lang="en-US">
                  <a:solidFill>
                    <a:srgbClr val="473F3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Online channel offers best margin</a:t>
              </a:r>
            </a:p>
            <a:p>
              <a:pPr algn="l" indent="-323850" lvl="1" marL="647700">
                <a:lnSpc>
                  <a:spcPts val="3900"/>
                </a:lnSpc>
                <a:buFont typeface="Arial"/>
                <a:buChar char="•"/>
              </a:pPr>
              <a:r>
                <a:rPr sz="3000" lang="en-US">
                  <a:solidFill>
                    <a:srgbClr val="473F3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Outlet performance remains strong</a:t>
              </a:r>
            </a:p>
            <a:p>
              <a:pPr algn="l" indent="-323850" lvl="1" marL="647700">
                <a:lnSpc>
                  <a:spcPts val="3900"/>
                </a:lnSpc>
                <a:buFont typeface="Arial"/>
                <a:buChar char="•"/>
              </a:pPr>
              <a:r>
                <a:rPr sz="3000" lang="en-US">
                  <a:solidFill>
                    <a:srgbClr val="473F3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Diverse channels drive overall growth</a:t>
              </a:r>
            </a:p>
          </p:txBody>
        </p:sp>
      </p:grpSp>
      <p:pic>
        <p:nvPicPr>
          <p:cNvPr id="2097157" name=""/>
          <p:cNvPicPr>
            <a:picLocks/>
          </p:cNvPicPr>
          <p:nvPr/>
        </p:nvPicPr>
        <p:blipFill>
          <a:blip xmlns:r="http://schemas.openxmlformats.org/officeDocument/2006/relationships" r:embed="rId2"/>
          <a:srcRect l="19246" t="25333" r="2138" b="42417"/>
          <a:stretch>
            <a:fillRect/>
          </a:stretch>
        </p:blipFill>
        <p:spPr>
          <a:xfrm rot="0">
            <a:off x="1167916" y="2189355"/>
            <a:ext cx="7738580" cy="5103015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694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695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96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grpSp>
        <p:nvGrpSpPr>
          <p:cNvPr id="73" name="Group 6"/>
          <p:cNvGrpSpPr/>
          <p:nvPr/>
        </p:nvGrpSpPr>
        <p:grpSpPr>
          <a:xfrm rot="0">
            <a:off x="666750" y="738187"/>
            <a:ext cx="8324850" cy="3614215"/>
            <a:chOff x="0" y="95250"/>
            <a:chExt cx="11099800" cy="4818953"/>
          </a:xfrm>
        </p:grpSpPr>
        <p:sp>
          <p:nvSpPr>
            <p:cNvPr id="1048697" name="TextBox 7"/>
            <p:cNvSpPr txBox="1"/>
            <p:nvPr/>
          </p:nvSpPr>
          <p:spPr>
            <a:xfrm rot="0">
              <a:off x="0" y="2285542"/>
              <a:ext cx="11099800" cy="2628661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900"/>
                </a:lnSpc>
              </a:pPr>
              <a:r>
                <a:rPr sz="3000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Men's Street Footwear shows strong performance across most regions, while Women's Athletic Footwear presents a growth opportunity for future sales.</a:t>
              </a:r>
            </a:p>
          </p:txBody>
        </p:sp>
        <p:sp>
          <p:nvSpPr>
            <p:cNvPr id="1048698" name="TextBox 8"/>
            <p:cNvSpPr txBox="1"/>
            <p:nvPr/>
          </p:nvSpPr>
          <p:spPr>
            <a:xfrm rot="0">
              <a:off x="0" y="95250"/>
              <a:ext cx="11099800" cy="1833881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5415"/>
                </a:lnSpc>
              </a:pPr>
              <a:r>
                <a:rPr sz="5415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PRODUCT PERFORMANCE ACROSS REGIONS</a:t>
              </a:r>
            </a:p>
          </p:txBody>
        </p:sp>
      </p:grp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8505042" y="1298641"/>
            <a:ext cx="9495076" cy="5470622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699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700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701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702" name="TextBox 6"/>
          <p:cNvSpPr txBox="1"/>
          <p:nvPr/>
        </p:nvSpPr>
        <p:spPr>
          <a:xfrm rot="0">
            <a:off x="666750" y="762000"/>
            <a:ext cx="6886575" cy="1373378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5407"/>
              </a:lnSpc>
            </a:pPr>
            <a:r>
              <a:rPr sz="5407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RECOMMENDATIONS: PRODUCT STRATEGY</a:t>
            </a:r>
          </a:p>
        </p:txBody>
      </p:sp>
      <p:sp>
        <p:nvSpPr>
          <p:cNvPr id="1048703" name="TextBox 7"/>
          <p:cNvSpPr txBox="1"/>
          <p:nvPr/>
        </p:nvSpPr>
        <p:spPr>
          <a:xfrm rot="0">
            <a:off x="9296400" y="66675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grpSp>
        <p:nvGrpSpPr>
          <p:cNvPr id="76" name="Group 8"/>
          <p:cNvGrpSpPr/>
          <p:nvPr/>
        </p:nvGrpSpPr>
        <p:grpSpPr>
          <a:xfrm rot="0">
            <a:off x="10734675" y="659700"/>
            <a:ext cx="6886575" cy="2447817"/>
            <a:chOff x="0" y="-9525"/>
            <a:chExt cx="9182100" cy="3263757"/>
          </a:xfrm>
        </p:grpSpPr>
        <p:sp>
          <p:nvSpPr>
            <p:cNvPr id="1048704" name="TextBox 9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MEN'S FOOTWEAR</a:t>
              </a:r>
            </a:p>
          </p:txBody>
        </p:sp>
        <p:sp>
          <p:nvSpPr>
            <p:cNvPr id="1048705" name="TextBox 10"/>
            <p:cNvSpPr txBox="1"/>
            <p:nvPr/>
          </p:nvSpPr>
          <p:spPr>
            <a:xfrm rot="0">
              <a:off x="0" y="1152465"/>
              <a:ext cx="9182100" cy="2101767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103"/>
                </a:lnSpc>
              </a:pPr>
              <a:r>
                <a:rPr b="1" sz="2387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INCREASE INVESTMENT IN MEN'S STREET FOOTWEAR TO CAPITALIZE ON ITS STRONG SALES PERFORMANCE AND ENSURE IT REMAINS A TOP PRODUCT FOR FUTURE GROWTH.</a:t>
              </a:r>
            </a:p>
          </p:txBody>
        </p:sp>
      </p:grpSp>
      <p:sp>
        <p:nvSpPr>
          <p:cNvPr id="1048706" name="TextBox 11"/>
          <p:cNvSpPr txBox="1"/>
          <p:nvPr/>
        </p:nvSpPr>
        <p:spPr>
          <a:xfrm rot="0">
            <a:off x="9296400" y="514350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grpSp>
        <p:nvGrpSpPr>
          <p:cNvPr id="77" name="Group 12"/>
          <p:cNvGrpSpPr/>
          <p:nvPr/>
        </p:nvGrpSpPr>
        <p:grpSpPr>
          <a:xfrm rot="0">
            <a:off x="10734675" y="5136357"/>
            <a:ext cx="6886575" cy="2852184"/>
            <a:chOff x="0" y="-9525"/>
            <a:chExt cx="9182100" cy="3802912"/>
          </a:xfrm>
        </p:grpSpPr>
        <p:sp>
          <p:nvSpPr>
            <p:cNvPr id="1048707" name="TextBox 13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WOMEN'S FOOTWEAR</a:t>
              </a:r>
            </a:p>
          </p:txBody>
        </p:sp>
        <p:sp>
          <p:nvSpPr>
            <p:cNvPr id="1048708" name="TextBox 14"/>
            <p:cNvSpPr txBox="1"/>
            <p:nvPr/>
          </p:nvSpPr>
          <p:spPr>
            <a:xfrm rot="0">
              <a:off x="0" y="1152465"/>
              <a:ext cx="9182100" cy="264092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Review and improve Women's Athletic Footwear offerings, identifying gaps in the market to enhance sales and capture untapped customer segments.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709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710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711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712" name="TextBox 6"/>
          <p:cNvSpPr txBox="1"/>
          <p:nvPr/>
        </p:nvSpPr>
        <p:spPr>
          <a:xfrm rot="0">
            <a:off x="9296400" y="66675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grpSp>
        <p:nvGrpSpPr>
          <p:cNvPr id="80" name="Group 7"/>
          <p:cNvGrpSpPr/>
          <p:nvPr/>
        </p:nvGrpSpPr>
        <p:grpSpPr>
          <a:xfrm rot="0">
            <a:off x="10734675" y="659607"/>
            <a:ext cx="6886575" cy="1871364"/>
            <a:chOff x="0" y="-9525"/>
            <a:chExt cx="9182100" cy="2495152"/>
          </a:xfrm>
        </p:grpSpPr>
        <p:sp>
          <p:nvSpPr>
            <p:cNvPr id="1048713" name="TextBox 8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INVENTORY MANAGEMENT</a:t>
              </a:r>
            </a:p>
          </p:txBody>
        </p:sp>
        <p:sp>
          <p:nvSpPr>
            <p:cNvPr id="1048714" name="TextBox 9"/>
            <p:cNvSpPr txBox="1"/>
            <p:nvPr/>
          </p:nvSpPr>
          <p:spPr>
            <a:xfrm rot="0">
              <a:off x="0" y="1165165"/>
              <a:ext cx="9182100" cy="132046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Maintain stock levels in West and Northeast regions consistently.</a:t>
              </a:r>
            </a:p>
          </p:txBody>
        </p:sp>
      </p:grpSp>
      <p:sp>
        <p:nvSpPr>
          <p:cNvPr id="1048715" name="TextBox 10"/>
          <p:cNvSpPr txBox="1"/>
          <p:nvPr/>
        </p:nvSpPr>
        <p:spPr>
          <a:xfrm rot="0">
            <a:off x="9296400" y="335280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grpSp>
        <p:nvGrpSpPr>
          <p:cNvPr id="81" name="Group 11"/>
          <p:cNvGrpSpPr/>
          <p:nvPr/>
        </p:nvGrpSpPr>
        <p:grpSpPr>
          <a:xfrm rot="0">
            <a:off x="10734675" y="3345657"/>
            <a:ext cx="6886575" cy="1861839"/>
            <a:chOff x="0" y="-9525"/>
            <a:chExt cx="9182100" cy="2482452"/>
          </a:xfrm>
        </p:grpSpPr>
        <p:sp>
          <p:nvSpPr>
            <p:cNvPr id="1048716" name="TextBox 12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MARKETING STRENGTHENING</a:t>
              </a:r>
            </a:p>
          </p:txBody>
        </p:sp>
        <p:sp>
          <p:nvSpPr>
            <p:cNvPr id="1048717" name="TextBox 13"/>
            <p:cNvSpPr txBox="1"/>
            <p:nvPr/>
          </p:nvSpPr>
          <p:spPr>
            <a:xfrm rot="0">
              <a:off x="0" y="1152465"/>
              <a:ext cx="9182100" cy="132046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Enhance promotional efforts in the Midwest and South markets.</a:t>
              </a:r>
            </a:p>
          </p:txBody>
        </p:sp>
      </p:grpSp>
      <p:sp>
        <p:nvSpPr>
          <p:cNvPr id="1048718" name="TextBox 14"/>
          <p:cNvSpPr txBox="1"/>
          <p:nvPr/>
        </p:nvSpPr>
        <p:spPr>
          <a:xfrm rot="0">
            <a:off x="9296400" y="603885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grpSp>
        <p:nvGrpSpPr>
          <p:cNvPr id="82" name="Group 15"/>
          <p:cNvGrpSpPr/>
          <p:nvPr/>
        </p:nvGrpSpPr>
        <p:grpSpPr>
          <a:xfrm rot="0">
            <a:off x="10734675" y="6025992"/>
            <a:ext cx="6886575" cy="1867554"/>
            <a:chOff x="0" y="-9525"/>
            <a:chExt cx="9182100" cy="2490072"/>
          </a:xfrm>
        </p:grpSpPr>
        <p:sp>
          <p:nvSpPr>
            <p:cNvPr id="1048719" name="TextBox 16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PARTNERSHIP DEVELOPMENT</a:t>
              </a:r>
            </a:p>
          </p:txBody>
        </p:sp>
        <p:sp>
          <p:nvSpPr>
            <p:cNvPr id="1048720" name="TextBox 17"/>
            <p:cNvSpPr txBox="1"/>
            <p:nvPr/>
          </p:nvSpPr>
          <p:spPr>
            <a:xfrm rot="0">
              <a:off x="0" y="1160085"/>
              <a:ext cx="9182100" cy="132046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Build stronger relationships with key regional retailers for growth.</a:t>
              </a:r>
            </a:p>
          </p:txBody>
        </p:sp>
      </p:grpSp>
      <p:sp>
        <p:nvSpPr>
          <p:cNvPr id="1048721" name="TextBox 18"/>
          <p:cNvSpPr txBox="1"/>
          <p:nvPr/>
        </p:nvSpPr>
        <p:spPr>
          <a:xfrm rot="0">
            <a:off x="666750" y="828675"/>
            <a:ext cx="6886575" cy="335242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8799"/>
              </a:lnSpc>
            </a:pPr>
            <a:r>
              <a:rPr sz="8799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REGIONAL FOCUS STRATEGIES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722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723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724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725" name="TextBox 6"/>
          <p:cNvSpPr txBox="1"/>
          <p:nvPr/>
        </p:nvSpPr>
        <p:spPr>
          <a:xfrm rot="0">
            <a:off x="9296400" y="66675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grpSp>
        <p:nvGrpSpPr>
          <p:cNvPr id="85" name="Group 7"/>
          <p:cNvGrpSpPr/>
          <p:nvPr/>
        </p:nvGrpSpPr>
        <p:grpSpPr>
          <a:xfrm rot="0">
            <a:off x="10734675" y="659607"/>
            <a:ext cx="6886575" cy="1871364"/>
            <a:chOff x="0" y="-9525"/>
            <a:chExt cx="9182100" cy="2495152"/>
          </a:xfrm>
        </p:grpSpPr>
        <p:sp>
          <p:nvSpPr>
            <p:cNvPr id="1048726" name="TextBox 8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PARTNERSHIPS</a:t>
              </a:r>
            </a:p>
          </p:txBody>
        </p:sp>
        <p:sp>
          <p:nvSpPr>
            <p:cNvPr id="1048727" name="TextBox 9"/>
            <p:cNvSpPr txBox="1"/>
            <p:nvPr/>
          </p:nvSpPr>
          <p:spPr>
            <a:xfrm rot="0">
              <a:off x="0" y="1165165"/>
              <a:ext cx="9182100" cy="132046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Strengthen partnerships with West Gear and Foot Locker.</a:t>
              </a:r>
            </a:p>
          </p:txBody>
        </p:sp>
      </p:grpSp>
      <p:sp>
        <p:nvSpPr>
          <p:cNvPr id="1048728" name="TextBox 10"/>
          <p:cNvSpPr txBox="1"/>
          <p:nvPr/>
        </p:nvSpPr>
        <p:spPr>
          <a:xfrm rot="0">
            <a:off x="9296400" y="335280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grpSp>
        <p:nvGrpSpPr>
          <p:cNvPr id="86" name="Group 11"/>
          <p:cNvGrpSpPr/>
          <p:nvPr/>
        </p:nvGrpSpPr>
        <p:grpSpPr>
          <a:xfrm rot="0">
            <a:off x="10734675" y="3345657"/>
            <a:ext cx="6886575" cy="1861839"/>
            <a:chOff x="0" y="-9525"/>
            <a:chExt cx="9182100" cy="2482452"/>
          </a:xfrm>
        </p:grpSpPr>
        <p:sp>
          <p:nvSpPr>
            <p:cNvPr id="1048729" name="TextBox 12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PROMOTIONS</a:t>
              </a:r>
            </a:p>
          </p:txBody>
        </p:sp>
        <p:sp>
          <p:nvSpPr>
            <p:cNvPr id="1048730" name="TextBox 13"/>
            <p:cNvSpPr txBox="1"/>
            <p:nvPr/>
          </p:nvSpPr>
          <p:spPr>
            <a:xfrm rot="0">
              <a:off x="0" y="1152465"/>
              <a:ext cx="9182100" cy="132046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Target promotions for Walmart and Amazon to boost sales.</a:t>
              </a:r>
            </a:p>
          </p:txBody>
        </p:sp>
      </p:grpSp>
      <p:sp>
        <p:nvSpPr>
          <p:cNvPr id="1048731" name="TextBox 14"/>
          <p:cNvSpPr txBox="1"/>
          <p:nvPr/>
        </p:nvSpPr>
        <p:spPr>
          <a:xfrm rot="0">
            <a:off x="9296400" y="603885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grpSp>
        <p:nvGrpSpPr>
          <p:cNvPr id="87" name="Group 15"/>
          <p:cNvGrpSpPr/>
          <p:nvPr/>
        </p:nvGrpSpPr>
        <p:grpSpPr>
          <a:xfrm rot="0">
            <a:off x="10734675" y="6025992"/>
            <a:ext cx="6886575" cy="1867554"/>
            <a:chOff x="0" y="-9525"/>
            <a:chExt cx="9182100" cy="2490072"/>
          </a:xfrm>
        </p:grpSpPr>
        <p:sp>
          <p:nvSpPr>
            <p:cNvPr id="1048732" name="TextBox 16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ENGAGEMENT</a:t>
              </a:r>
            </a:p>
          </p:txBody>
        </p:sp>
        <p:sp>
          <p:nvSpPr>
            <p:cNvPr id="1048733" name="TextBox 17"/>
            <p:cNvSpPr txBox="1"/>
            <p:nvPr/>
          </p:nvSpPr>
          <p:spPr>
            <a:xfrm rot="0">
              <a:off x="0" y="1160085"/>
              <a:ext cx="9182100" cy="132046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Enhance retailer engagement through collaborative marketing initiatives.</a:t>
              </a:r>
            </a:p>
          </p:txBody>
        </p:sp>
      </p:grpSp>
      <p:sp>
        <p:nvSpPr>
          <p:cNvPr id="1048734" name="TextBox 18"/>
          <p:cNvSpPr txBox="1"/>
          <p:nvPr/>
        </p:nvSpPr>
        <p:spPr>
          <a:xfrm rot="0">
            <a:off x="666750" y="809625"/>
            <a:ext cx="6886575" cy="297180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7800"/>
              </a:lnSpc>
            </a:pPr>
            <a:r>
              <a:rPr sz="7800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RETAILER MANAGEMENT STRATEGIES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735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736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737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738" name="TextBox 6"/>
          <p:cNvSpPr txBox="1"/>
          <p:nvPr/>
        </p:nvSpPr>
        <p:spPr>
          <a:xfrm rot="0">
            <a:off x="9296400" y="66675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grpSp>
        <p:nvGrpSpPr>
          <p:cNvPr id="90" name="Group 7"/>
          <p:cNvGrpSpPr/>
          <p:nvPr/>
        </p:nvGrpSpPr>
        <p:grpSpPr>
          <a:xfrm rot="0">
            <a:off x="10734675" y="659607"/>
            <a:ext cx="6886575" cy="1871364"/>
            <a:chOff x="0" y="-9525"/>
            <a:chExt cx="9182100" cy="2495152"/>
          </a:xfrm>
        </p:grpSpPr>
        <p:sp>
          <p:nvSpPr>
            <p:cNvPr id="1048739" name="TextBox 8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DIGITAL MARKETING</a:t>
              </a:r>
            </a:p>
          </p:txBody>
        </p:sp>
        <p:sp>
          <p:nvSpPr>
            <p:cNvPr id="1048740" name="TextBox 9"/>
            <p:cNvSpPr txBox="1"/>
            <p:nvPr/>
          </p:nvSpPr>
          <p:spPr>
            <a:xfrm rot="0">
              <a:off x="0" y="1165165"/>
              <a:ext cx="9182100" cy="132046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Increase targeted ads to boost online shopping engagement.</a:t>
              </a:r>
            </a:p>
          </p:txBody>
        </p:sp>
      </p:grpSp>
      <p:sp>
        <p:nvSpPr>
          <p:cNvPr id="1048741" name="TextBox 10"/>
          <p:cNvSpPr txBox="1"/>
          <p:nvPr/>
        </p:nvSpPr>
        <p:spPr>
          <a:xfrm rot="0">
            <a:off x="9296400" y="335280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grpSp>
        <p:nvGrpSpPr>
          <p:cNvPr id="91" name="Group 11"/>
          <p:cNvGrpSpPr/>
          <p:nvPr/>
        </p:nvGrpSpPr>
        <p:grpSpPr>
          <a:xfrm rot="0">
            <a:off x="10734675" y="3345657"/>
            <a:ext cx="6886575" cy="1861839"/>
            <a:chOff x="0" y="-9525"/>
            <a:chExt cx="9182100" cy="2482452"/>
          </a:xfrm>
        </p:grpSpPr>
        <p:sp>
          <p:nvSpPr>
            <p:cNvPr id="1048742" name="TextBox 12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E-COMMERCE PROMOTIONS</a:t>
              </a:r>
            </a:p>
          </p:txBody>
        </p:sp>
        <p:sp>
          <p:nvSpPr>
            <p:cNvPr id="1048743" name="TextBox 13"/>
            <p:cNvSpPr txBox="1"/>
            <p:nvPr/>
          </p:nvSpPr>
          <p:spPr>
            <a:xfrm rot="0">
              <a:off x="0" y="1152465"/>
              <a:ext cx="9182100" cy="132046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Expand promotional offers to encourage online purchasing behavior.</a:t>
              </a:r>
            </a:p>
          </p:txBody>
        </p:sp>
      </p:grpSp>
      <p:sp>
        <p:nvSpPr>
          <p:cNvPr id="1048744" name="TextBox 14"/>
          <p:cNvSpPr txBox="1"/>
          <p:nvPr/>
        </p:nvSpPr>
        <p:spPr>
          <a:xfrm rot="0">
            <a:off x="9296400" y="603885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grpSp>
        <p:nvGrpSpPr>
          <p:cNvPr id="92" name="Group 15"/>
          <p:cNvGrpSpPr/>
          <p:nvPr/>
        </p:nvGrpSpPr>
        <p:grpSpPr>
          <a:xfrm rot="0">
            <a:off x="10734675" y="6025992"/>
            <a:ext cx="6886575" cy="1867554"/>
            <a:chOff x="0" y="-9525"/>
            <a:chExt cx="9182100" cy="2490072"/>
          </a:xfrm>
        </p:grpSpPr>
        <p:sp>
          <p:nvSpPr>
            <p:cNvPr id="1048745" name="TextBox 16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OUTLET OPERATIONS</a:t>
              </a:r>
            </a:p>
          </p:txBody>
        </p:sp>
        <p:sp>
          <p:nvSpPr>
            <p:cNvPr id="1048746" name="TextBox 17"/>
            <p:cNvSpPr txBox="1"/>
            <p:nvPr/>
          </p:nvSpPr>
          <p:spPr>
            <a:xfrm rot="0">
              <a:off x="0" y="1160085"/>
              <a:ext cx="9182100" cy="132046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Continue operations to enhance brand visibility and sales.</a:t>
              </a:r>
            </a:p>
          </p:txBody>
        </p:sp>
      </p:grpSp>
      <p:sp>
        <p:nvSpPr>
          <p:cNvPr id="1048747" name="TextBox 18"/>
          <p:cNvSpPr txBox="1"/>
          <p:nvPr/>
        </p:nvSpPr>
        <p:spPr>
          <a:xfrm rot="0">
            <a:off x="666750" y="762000"/>
            <a:ext cx="6886575" cy="205740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5400"/>
              </a:lnSpc>
            </a:pPr>
            <a:r>
              <a:rPr sz="5400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RECOMMENDATIONS: CHANNEL OPTIMIZATION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748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749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750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751" name="TextBox 6"/>
          <p:cNvSpPr txBox="1"/>
          <p:nvPr/>
        </p:nvSpPr>
        <p:spPr>
          <a:xfrm rot="0">
            <a:off x="9296400" y="66675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grpSp>
        <p:nvGrpSpPr>
          <p:cNvPr id="95" name="Group 7"/>
          <p:cNvGrpSpPr/>
          <p:nvPr/>
        </p:nvGrpSpPr>
        <p:grpSpPr>
          <a:xfrm rot="0">
            <a:off x="10734675" y="659607"/>
            <a:ext cx="6886575" cy="1871364"/>
            <a:chOff x="0" y="-9525"/>
            <a:chExt cx="9182100" cy="2495152"/>
          </a:xfrm>
        </p:grpSpPr>
        <p:sp>
          <p:nvSpPr>
            <p:cNvPr id="1048752" name="TextBox 8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INVENTORY BOOST</a:t>
              </a:r>
            </a:p>
          </p:txBody>
        </p:sp>
        <p:sp>
          <p:nvSpPr>
            <p:cNvPr id="1048753" name="TextBox 9"/>
            <p:cNvSpPr txBox="1"/>
            <p:nvPr/>
          </p:nvSpPr>
          <p:spPr>
            <a:xfrm rot="0">
              <a:off x="0" y="1165165"/>
              <a:ext cx="9182100" cy="132046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Increase stock levels before peak sales periods in Q3.</a:t>
              </a:r>
            </a:p>
          </p:txBody>
        </p:sp>
      </p:grpSp>
      <p:sp>
        <p:nvSpPr>
          <p:cNvPr id="1048754" name="TextBox 10"/>
          <p:cNvSpPr txBox="1"/>
          <p:nvPr/>
        </p:nvSpPr>
        <p:spPr>
          <a:xfrm rot="0">
            <a:off x="9296400" y="335280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grpSp>
        <p:nvGrpSpPr>
          <p:cNvPr id="96" name="Group 11"/>
          <p:cNvGrpSpPr/>
          <p:nvPr/>
        </p:nvGrpSpPr>
        <p:grpSpPr>
          <a:xfrm rot="0">
            <a:off x="10734675" y="3345657"/>
            <a:ext cx="6886575" cy="1861839"/>
            <a:chOff x="0" y="-9525"/>
            <a:chExt cx="9182100" cy="2482452"/>
          </a:xfrm>
        </p:grpSpPr>
        <p:sp>
          <p:nvSpPr>
            <p:cNvPr id="1048755" name="TextBox 12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MARKETING STIMULUS</a:t>
              </a:r>
            </a:p>
          </p:txBody>
        </p:sp>
        <p:sp>
          <p:nvSpPr>
            <p:cNvPr id="1048756" name="TextBox 13"/>
            <p:cNvSpPr txBox="1"/>
            <p:nvPr/>
          </p:nvSpPr>
          <p:spPr>
            <a:xfrm rot="0">
              <a:off x="0" y="1152465"/>
              <a:ext cx="9182100" cy="132046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Launch targeted promotions to stimulate demand in Q1.</a:t>
              </a:r>
            </a:p>
          </p:txBody>
        </p:sp>
      </p:grpSp>
      <p:sp>
        <p:nvSpPr>
          <p:cNvPr id="1048757" name="TextBox 14"/>
          <p:cNvSpPr txBox="1"/>
          <p:nvPr/>
        </p:nvSpPr>
        <p:spPr>
          <a:xfrm rot="0">
            <a:off x="9296400" y="6038850"/>
            <a:ext cx="1133475" cy="44763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3599"/>
              </a:lnSpc>
              <a:spcBef>
                <a:spcPct val="0"/>
              </a:spcBef>
            </a:pPr>
            <a:r>
              <a:rPr b="1" sz="2999" lang="en-US" u="none">
                <a:solidFill>
                  <a:srgbClr val="F7F5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grpSp>
        <p:nvGrpSpPr>
          <p:cNvPr id="97" name="Group 15"/>
          <p:cNvGrpSpPr/>
          <p:nvPr/>
        </p:nvGrpSpPr>
        <p:grpSpPr>
          <a:xfrm rot="0">
            <a:off x="10734675" y="6025992"/>
            <a:ext cx="6886575" cy="1867554"/>
            <a:chOff x="0" y="-9525"/>
            <a:chExt cx="9182100" cy="2490072"/>
          </a:xfrm>
        </p:grpSpPr>
        <p:sp>
          <p:nvSpPr>
            <p:cNvPr id="1048758" name="TextBox 16"/>
            <p:cNvSpPr txBox="1"/>
            <p:nvPr/>
          </p:nvSpPr>
          <p:spPr>
            <a:xfrm rot="0">
              <a:off x="0" y="-9525"/>
              <a:ext cx="9182100" cy="606365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554"/>
                </a:lnSpc>
                <a:spcBef>
                  <a:spcPct val="0"/>
                </a:spcBef>
              </a:pPr>
              <a:r>
                <a:rPr b="1" sz="2962" lang="en-US">
                  <a:solidFill>
                    <a:srgbClr val="F7F5F6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SEASONAL PLANNING</a:t>
              </a:r>
            </a:p>
          </p:txBody>
        </p:sp>
        <p:sp>
          <p:nvSpPr>
            <p:cNvPr id="1048759" name="TextBox 17"/>
            <p:cNvSpPr txBox="1"/>
            <p:nvPr/>
          </p:nvSpPr>
          <p:spPr>
            <a:xfrm rot="0">
              <a:off x="0" y="1160085"/>
              <a:ext cx="9182100" cy="1320462"/>
            </a:xfrm>
            <a:prstGeom prst="rect"/>
          </p:spPr>
          <p:txBody>
            <a:bodyPr anchor="t" bIns="0" lIns="0" rIns="0" rtlCol="0" tIns="0">
              <a:spAutoFit/>
            </a:bodyPr>
            <a:p>
              <a:pPr algn="l" indent="0" lvl="0" marL="0">
                <a:lnSpc>
                  <a:spcPts val="3899"/>
                </a:lnSpc>
              </a:pPr>
              <a:r>
                <a:rPr sz="2999" lang="en-US">
                  <a:solidFill>
                    <a:srgbClr val="F7F5F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Prepare marketing strategies ahead of July’s high sales.</a:t>
              </a:r>
            </a:p>
          </p:txBody>
        </p:sp>
      </p:grpSp>
      <p:sp>
        <p:nvSpPr>
          <p:cNvPr id="1048760" name="TextBox 18"/>
          <p:cNvSpPr txBox="1"/>
          <p:nvPr/>
        </p:nvSpPr>
        <p:spPr>
          <a:xfrm rot="0">
            <a:off x="666750" y="762000"/>
            <a:ext cx="6886575" cy="1405890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5535"/>
              </a:lnSpc>
            </a:pPr>
            <a:r>
              <a:rPr sz="5535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TIME-BASED RECOMMENDATIONS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2"/>
          <p:cNvGrpSpPr/>
          <p:nvPr/>
        </p:nvGrpSpPr>
        <p:grpSpPr>
          <a:xfrm rot="0">
            <a:off x="0" y="-976651"/>
            <a:ext cx="18288000" cy="8947593"/>
            <a:chOff x="0" y="0"/>
            <a:chExt cx="4816593" cy="2356568"/>
          </a:xfrm>
        </p:grpSpPr>
        <p:sp>
          <p:nvSpPr>
            <p:cNvPr id="1048761" name="Freeform 3"/>
            <p:cNvSpPr/>
            <p:nvPr/>
          </p:nvSpPr>
          <p:spPr>
            <a:xfrm rot="0" flipH="0" flipV="0">
              <a:off x="0" y="0"/>
              <a:ext cx="4816592" cy="2356568"/>
            </a:xfrm>
            <a:custGeom>
              <a:avLst/>
              <a:ahLst/>
              <a:rect l="l" t="t" r="r" b="b"/>
              <a:pathLst>
                <a:path w="4816592" h="2356568">
                  <a:moveTo>
                    <a:pt x="36830" y="0"/>
                  </a:moveTo>
                  <a:lnTo>
                    <a:pt x="4779763" y="0"/>
                  </a:lnTo>
                  <a:cubicBezTo>
                    <a:pt x="4789531" y="0"/>
                    <a:pt x="4798898" y="3880"/>
                    <a:pt x="4805805" y="10787"/>
                  </a:cubicBezTo>
                  <a:cubicBezTo>
                    <a:pt x="4812712" y="17694"/>
                    <a:pt x="4816592" y="27062"/>
                    <a:pt x="4816592" y="36830"/>
                  </a:cubicBezTo>
                  <a:lnTo>
                    <a:pt x="4816592" y="2319738"/>
                  </a:lnTo>
                  <a:cubicBezTo>
                    <a:pt x="4816592" y="2340078"/>
                    <a:pt x="4800103" y="2356568"/>
                    <a:pt x="4779763" y="2356568"/>
                  </a:cubicBezTo>
                  <a:lnTo>
                    <a:pt x="36830" y="2356568"/>
                  </a:lnTo>
                  <a:cubicBezTo>
                    <a:pt x="27062" y="2356568"/>
                    <a:pt x="17694" y="2352687"/>
                    <a:pt x="10787" y="2345780"/>
                  </a:cubicBezTo>
                  <a:cubicBezTo>
                    <a:pt x="3880" y="2338874"/>
                    <a:pt x="0" y="2329506"/>
                    <a:pt x="0" y="2319738"/>
                  </a:cubicBezTo>
                  <a:lnTo>
                    <a:pt x="0" y="36830"/>
                  </a:lnTo>
                  <a:cubicBezTo>
                    <a:pt x="0" y="16489"/>
                    <a:pt x="16489" y="0"/>
                    <a:pt x="36830" y="0"/>
                  </a:cubicBezTo>
                  <a:close/>
                </a:path>
              </a:pathLst>
            </a:custGeom>
            <a:solidFill>
              <a:srgbClr val="639683"/>
            </a:solidFill>
          </p:spPr>
        </p:sp>
        <p:sp>
          <p:nvSpPr>
            <p:cNvPr id="1048762" name="TextBox 4"/>
            <p:cNvSpPr txBox="1"/>
            <p:nvPr/>
          </p:nvSpPr>
          <p:spPr>
            <a:xfrm>
              <a:off x="0" y="-38100"/>
              <a:ext cx="4816593" cy="2394668"/>
            </a:xfrm>
            <a:prstGeom prst="rect"/>
          </p:spPr>
          <p:txBody>
            <a:bodyPr anchor="ctr" bIns="50800" lIns="50800" rIns="50800" rtlCol="0" tIns="50800"/>
            <a:p>
              <a:pPr algn="ctr" indent="0" lvl="0" mar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763" name="Freeform 5" descr="Arrow Road Sign Show Curved Section of Road Vector"/>
          <p:cNvSpPr/>
          <p:nvPr/>
        </p:nvSpPr>
        <p:spPr>
          <a:xfrm rot="0" flipH="0" flipV="0">
            <a:off x="11578171" y="8729882"/>
            <a:ext cx="459336" cy="459336"/>
          </a:xfrm>
          <a:custGeom>
            <a:avLst/>
            <a:ahLst/>
            <a:rect l="l" t="t" r="r" b="b"/>
            <a:pathLst>
              <a:path w="459336" h="459336">
                <a:moveTo>
                  <a:pt x="0" y="0"/>
                </a:moveTo>
                <a:lnTo>
                  <a:pt x="459337" y="0"/>
                </a:lnTo>
                <a:lnTo>
                  <a:pt x="459337" y="459336"/>
                </a:lnTo>
                <a:lnTo>
                  <a:pt x="0" y="45933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sp>
        <p:nvSpPr>
          <p:cNvPr id="1048764" name="TextBox 6"/>
          <p:cNvSpPr txBox="1"/>
          <p:nvPr/>
        </p:nvSpPr>
        <p:spPr>
          <a:xfrm rot="0">
            <a:off x="4706610" y="1468656"/>
            <a:ext cx="14235365" cy="1693165"/>
          </a:xfrm>
          <a:prstGeom prst="rect"/>
        </p:spPr>
        <p:txBody>
          <a:bodyPr anchor="t" bIns="0" lIns="0" rIns="0" rtlCol="0" tIns="0">
            <a:spAutoFit/>
          </a:bodyPr>
          <a:p>
            <a:pPr algn="l" indent="0" lvl="0" marL="0">
              <a:lnSpc>
                <a:spcPts val="13332"/>
              </a:lnSpc>
            </a:pPr>
            <a:r>
              <a:rPr sz="13332" lang="en-US">
                <a:solidFill>
                  <a:srgbClr val="F7F5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THANK YOU.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Presentation - ADIDAS SALES PERFORMANCE ANALYSIS</dc:title>
  <dc:creator>SM-T225N</dc:creator>
  <dcterms:created xsi:type="dcterms:W3CDTF">2006-08-15T12:00:00Z</dcterms:created>
  <dcterms:modified xsi:type="dcterms:W3CDTF">2026-08-01T05:20:54Z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d0ed9551e89343ba86163d377d8151dc</vt:lpwstr>
  </property>
</Properties>
</file>